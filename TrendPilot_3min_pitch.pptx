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0:00–0:15  TrendPilot은 유행을 나열하는 챗봇이 아닙니다. 공개 콘텐츠 근거와 내 계정 변화를 같이 보고, 다음에 찍을 실험 세 개를 만들고 촬영 직전의 제작 패키지까지 준비합니다.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0:15–0:30  크리에이터의 실제 병목은 유행을 모르는 게 아닙니다. 오늘 무슨 말을 하고, 어떤 장면을 찍고, 어떻게 편집하고, 어떤 문구로 올릴지가 비어 있습니다. TrendPilot은 그 실행 공백을 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0:30–0:50  흐름은 다섯 단계입니다. 공개 근거를 관측하고, 팔로워 export를 보수적으로 감사하고, 실험 세 개를 설계한 뒤, 촬영 직전의 패키지를 만듭니다. 게시 후 성과를 다시 넣는 루프는 다음 단계입니다.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0:50–1:10  이 신뢰 계층이 핵심입니다. export에서 네 개가 사라졌다고 네 명이 언팔한 게 아닙니다. 데모에서는 관계 부재, 계정명 변경, 기간 제외, 미확인으로 하나씩 분리합니다. 모르는 것은 모른다고 남깁니다.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1:10–1:30  결과는 정확히 세 개의 실험입니다. SAFE BET은 현재 강점을 활용하고, GROWTH EXPERIMENT는 약점 하나만 겨냥합니다. 모든 실험은 근거에 연결되고, 주간 제작 시간 안에 들어와야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1:30–2:00  여기서 데모의 핵심 화면입니다. 실험 하나를 열면 대본, 장면별 촬영 리스트, 편집 지시, 썸네일, 게시 문구가 한 번에 나옵니다. 예를 들어 학습 루틴 실험은 정리, 한 줄 계획, 타이머까지 촬영 순서가 구체적입니다. 촬영만 사용자가 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2:00–2:20  스폰서는 로고를 붙이는 방식이 아니라 파이프라인 안에서 역할이 분명합니다. Nosana는 비식별 근거로 전략을 만들고, Daytona는 안전한 코드로 계산과 파일 생성을 맡고, DNSimple은 별도 게시 단계에서 sandbox 레코드를 검증합니다.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2:20–2:35  저희가 보여주려는 성공 기준은 AI가 그럴듯한 문장을 썼다는 게 아닙니다. 실제 provider trace, 실제 생성 파일, 그리고 다운로드한 파일의 해시가 맞는지를 확인합니다. synthetic, live, sandbox 상태도 그대로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2:35–2:50  TrendPilot이 남기는 것은 답변이 아니라 다음 촬영입니다. 세 개의 실험, 다섯 종류의 제작 패키지, 그리고 근거와 한계를 함께 줍니다. 이후에는 실제 성과를 다시 넣어 다음 추천으로 연결하는 루프로 확장합니다.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6DFFA8"/>
          </a:solidFill>
          <a:ln w="12700">
            <a:solidFill>
              <a:srgbClr val="6DF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F8A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TREND PILOT  /  SEOUL HACKATHON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670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670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548640"/>
            <a:ext cx="4206240" cy="4206240"/>
          </a:xfrm>
          <a:prstGeom prst="ellipse">
            <a:avLst/>
          </a:prstGeom>
          <a:solidFill>
            <a:srgbClr val="62D7FF">
              <a:alpha val="9000"/>
            </a:srgbClr>
          </a:solidFill>
          <a:ln w="12700">
            <a:solidFill>
              <a:srgbClr val="62D7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103120"/>
            <a:ext cx="4297680" cy="4297680"/>
          </a:xfrm>
          <a:prstGeom prst="ellipse">
            <a:avLst/>
          </a:prstGeom>
          <a:solidFill>
            <a:srgbClr val="B78CFF">
              <a:alpha val="7000"/>
            </a:srgbClr>
          </a:solidFill>
          <a:ln w="12700">
            <a:solidFill>
              <a:srgbClr val="B7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987552"/>
            <a:ext cx="3383280" cy="274320"/>
          </a:xfrm>
          <a:prstGeom prst="roundRect">
            <a:avLst>
              <a:gd name="adj" fmla="val 50000"/>
            </a:avLst>
          </a:prstGeom>
          <a:solidFill>
            <a:srgbClr val="10241B"/>
          </a:solidFill>
          <a:ln w="10160">
            <a:solidFill>
              <a:srgbClr val="6DF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996696"/>
            <a:ext cx="3273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F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PERSONAL SNS GROWTH PRODUCTION AGENT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444752"/>
            <a:ext cx="5715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아이디어 말고,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촬영을 결정한다.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85216" y="3264408"/>
            <a:ext cx="5806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 근거 + 내 계정 변화 → 콘텐츠 실험 3개 → 촬영 직전 Production Package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95160" y="1078992"/>
            <a:ext cx="4526280" cy="804672"/>
          </a:xfrm>
          <a:prstGeom prst="roundRect">
            <a:avLst>
              <a:gd name="adj" fmla="val 13636"/>
            </a:avLst>
          </a:prstGeom>
          <a:solidFill>
            <a:srgbClr val="121923"/>
          </a:solidFill>
          <a:ln w="12700">
            <a:solidFill>
              <a:srgbClr val="2834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96328" y="1243584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10242C"/>
          </a:solidFill>
          <a:ln w="10160">
            <a:solidFill>
              <a:srgbClr val="62D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51192" y="1252728"/>
            <a:ext cx="1033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2D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 EVIDENCE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13064" y="12070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YouTube 최근 공개 근거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262872" y="1929384"/>
            <a:ext cx="0" cy="265176"/>
          </a:xfrm>
          <a:prstGeom prst="line">
            <a:avLst/>
          </a:prstGeom>
          <a:noFill/>
          <a:ln w="19050">
            <a:solidFill>
              <a:srgbClr val="62D7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995160" y="2221992"/>
            <a:ext cx="4526280" cy="804672"/>
          </a:xfrm>
          <a:prstGeom prst="roundRect">
            <a:avLst>
              <a:gd name="adj" fmla="val 13636"/>
            </a:avLst>
          </a:prstGeom>
          <a:solidFill>
            <a:srgbClr val="121923"/>
          </a:solidFill>
          <a:ln w="12700">
            <a:solidFill>
              <a:srgbClr val="2834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96328" y="2386584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2B2312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51192" y="2395728"/>
            <a:ext cx="1033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 ACCOUNT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513064" y="23500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팔로워 변화 + audit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262872" y="3072384"/>
            <a:ext cx="0" cy="265176"/>
          </a:xfrm>
          <a:prstGeom prst="line">
            <a:avLst/>
          </a:prstGeom>
          <a:noFill/>
          <a:ln w="19050">
            <a:solidFill>
              <a:srgbClr val="B78CF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995160" y="3364992"/>
            <a:ext cx="4526280" cy="1078992"/>
          </a:xfrm>
          <a:prstGeom prst="roundRect">
            <a:avLst>
              <a:gd name="adj" fmla="val 10169"/>
            </a:avLst>
          </a:prstGeom>
          <a:solidFill>
            <a:srgbClr val="17212D"/>
          </a:solidFill>
          <a:ln w="12700">
            <a:solidFill>
              <a:srgbClr val="B78C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96328" y="356616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0182C"/>
          </a:solidFill>
          <a:ln w="10160">
            <a:solidFill>
              <a:srgbClr val="B7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51192" y="3575304"/>
            <a:ext cx="1307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 EXPERIMENTS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96328" y="389534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SAFE BET  /  GROWTH EXP.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262872" y="4489704"/>
            <a:ext cx="0" cy="265176"/>
          </a:xfrm>
          <a:prstGeom prst="line">
            <a:avLst/>
          </a:prstGeom>
          <a:noFill/>
          <a:ln w="19050">
            <a:solidFill>
              <a:srgbClr val="6DFFA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95160" y="4782312"/>
            <a:ext cx="4526280" cy="1005840"/>
          </a:xfrm>
          <a:prstGeom prst="roundRect">
            <a:avLst>
              <a:gd name="adj" fmla="val 10909"/>
            </a:avLst>
          </a:prstGeom>
          <a:solidFill>
            <a:srgbClr val="10241B"/>
          </a:solidFill>
          <a:ln w="12700">
            <a:solidFill>
              <a:srgbClr val="6DFF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96328" y="4992624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173626"/>
          </a:solidFill>
          <a:ln w="10160">
            <a:solidFill>
              <a:srgbClr val="6DFF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51192" y="5001768"/>
            <a:ext cx="1307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DF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 SHOOT-READY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96328" y="53218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Script · Shots · Edit · Thumbnail · Publish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5216" y="60533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DF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TrendPilot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920240" y="6044184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트렌드를 설명하는 AI가 아니라, 다음 촬영을 준비하는 에이전트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670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DF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크리에이터의 병목은 '트렌드 검색'이 아니다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4800600" cy="3429000"/>
          </a:xfrm>
          <a:prstGeom prst="roundRect">
            <a:avLst>
              <a:gd name="adj" fmla="val 3200"/>
            </a:avLst>
          </a:prstGeom>
          <a:solidFill>
            <a:srgbClr val="10161E"/>
          </a:solidFill>
          <a:ln w="12700">
            <a:solidFill>
              <a:srgbClr val="2631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1488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7480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“요즘 뭐가 떠?”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2907792"/>
            <a:ext cx="4069080" cy="0"/>
          </a:xfrm>
          <a:prstGeom prst="line">
            <a:avLst/>
          </a:prstGeom>
          <a:noFill/>
          <a:ln w="25400">
            <a:solidFill>
              <a:srgbClr val="5965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트렌드 목록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1832" y="37124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아이디어 10개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41832" y="41788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“바이럴 가능성”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41832" y="4672584"/>
            <a:ext cx="2423160" cy="274320"/>
          </a:xfrm>
          <a:prstGeom prst="roundRect">
            <a:avLst>
              <a:gd name="adj" fmla="val 50000"/>
            </a:avLst>
          </a:prstGeom>
          <a:solidFill>
            <a:srgbClr val="1A222D"/>
          </a:solidFill>
          <a:ln w="10160">
            <a:solidFill>
              <a:srgbClr val="344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4681728"/>
            <a:ext cx="2313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6B0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여기서 멈추면 실행이 안 된다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623560" y="3538728"/>
            <a:ext cx="960120" cy="0"/>
          </a:xfrm>
          <a:prstGeom prst="line">
            <a:avLst/>
          </a:prstGeom>
          <a:noFill/>
          <a:ln w="27940">
            <a:solidFill>
              <a:srgbClr val="6DFFA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12280" y="1664208"/>
            <a:ext cx="4782312" cy="3703320"/>
          </a:xfrm>
          <a:prstGeom prst="roundRect">
            <a:avLst>
              <a:gd name="adj" fmla="val 2963"/>
            </a:avLst>
          </a:prstGeom>
          <a:solidFill>
            <a:srgbClr val="17212D"/>
          </a:solidFill>
          <a:ln w="12700">
            <a:solidFill>
              <a:srgbClr val="6DF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68896" y="1993392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“그래서 오늘 뭘 찍지?”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7205472" y="2898648"/>
            <a:ext cx="91440" cy="91440"/>
          </a:xfrm>
          <a:prstGeom prst="ellipse">
            <a:avLst/>
          </a:prstGeom>
          <a:solidFill>
            <a:srgbClr val="6DFFA8"/>
          </a:solidFill>
          <a:ln w="12700">
            <a:solidFill>
              <a:srgbClr val="6DF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4928" y="27797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말할 것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69680" y="277977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Script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05472" y="3337560"/>
            <a:ext cx="91440" cy="91440"/>
          </a:xfrm>
          <a:prstGeom prst="ellipse">
            <a:avLst/>
          </a:prstGeom>
          <a:solidFill>
            <a:srgbClr val="6DFFA8"/>
          </a:solidFill>
          <a:ln w="12700">
            <a:solidFill>
              <a:srgbClr val="6DFF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24928" y="321868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찍을 것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69680" y="32186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Shot List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05472" y="3776472"/>
            <a:ext cx="91440" cy="91440"/>
          </a:xfrm>
          <a:prstGeom prst="ellipse">
            <a:avLst/>
          </a:prstGeom>
          <a:solidFill>
            <a:srgbClr val="6DFFA8"/>
          </a:solidFill>
          <a:ln w="12700">
            <a:solidFill>
              <a:srgbClr val="6DF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24928" y="36576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편집할 것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69680" y="36576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05472" y="4215384"/>
            <a:ext cx="91440" cy="91440"/>
          </a:xfrm>
          <a:prstGeom prst="ellipse">
            <a:avLst/>
          </a:prstGeom>
          <a:solidFill>
            <a:srgbClr val="6DFFA8"/>
          </a:solidFill>
          <a:ln w="12700">
            <a:solidFill>
              <a:srgbClr val="6DFF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24928" y="409651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썸네일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869680" y="40965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Thumbnail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205472" y="4654296"/>
            <a:ext cx="91440" cy="91440"/>
          </a:xfrm>
          <a:prstGeom prst="ellipse">
            <a:avLst/>
          </a:prstGeom>
          <a:solidFill>
            <a:srgbClr val="6DFFA8"/>
          </a:solidFill>
          <a:ln w="12700">
            <a:solidFill>
              <a:srgbClr val="6DFF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24928" y="453542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올릴 문구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869680" y="453542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Publishing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" y="5824728"/>
            <a:ext cx="10881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F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TrendPilot은 “아이디어”에서 “촬영 직전”까지 연결한다.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670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DF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PRODUCT LOOP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하나의 루프로, 근거에서 제작까지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965960"/>
            <a:ext cx="2148840" cy="2468880"/>
          </a:xfrm>
          <a:prstGeom prst="roundRect">
            <a:avLst>
              <a:gd name="adj" fmla="val 5106"/>
            </a:avLst>
          </a:prstGeom>
          <a:solidFill>
            <a:srgbClr val="10242C"/>
          </a:solidFill>
          <a:ln w="12700">
            <a:solidFill>
              <a:srgbClr val="62D7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30552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62D7FF"/>
          </a:solidFill>
          <a:ln w="10160">
            <a:solidFill>
              <a:srgbClr val="62D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13969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0F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408176" y="213055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D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OBSERVE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2734056"/>
            <a:ext cx="17830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YouTube 최근 공개 근거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주제 · 목표 · 시간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07208" y="3200400"/>
            <a:ext cx="146304" cy="0"/>
          </a:xfrm>
          <a:prstGeom prst="line">
            <a:avLst/>
          </a:prstGeom>
          <a:noFill/>
          <a:ln w="16510">
            <a:solidFill>
              <a:srgbClr val="28344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71800" y="1965960"/>
            <a:ext cx="2148840" cy="2468880"/>
          </a:xfrm>
          <a:prstGeom prst="roundRect">
            <a:avLst>
              <a:gd name="adj" fmla="val 5106"/>
            </a:avLst>
          </a:prstGeom>
          <a:solidFill>
            <a:srgbClr val="2B2312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36392" y="2130552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91256" y="213969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0F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721608" y="213055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AUDIT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54680" y="2734056"/>
            <a:ext cx="17830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Instagram export diff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rename · window · unknown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20640" y="3200400"/>
            <a:ext cx="146304" cy="0"/>
          </a:xfrm>
          <a:prstGeom prst="line">
            <a:avLst/>
          </a:prstGeom>
          <a:noFill/>
          <a:ln w="16510">
            <a:solidFill>
              <a:srgbClr val="28344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85232" y="1965960"/>
            <a:ext cx="2148840" cy="2468880"/>
          </a:xfrm>
          <a:prstGeom prst="roundRect">
            <a:avLst>
              <a:gd name="adj" fmla="val 5106"/>
            </a:avLst>
          </a:prstGeom>
          <a:solidFill>
            <a:srgbClr val="20182C"/>
          </a:solidFill>
          <a:ln w="12700">
            <a:solidFill>
              <a:srgbClr val="B78C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49824" y="2130552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B78CFF"/>
          </a:solidFill>
          <a:ln w="10160">
            <a:solidFill>
              <a:srgbClr val="B78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04688" y="213969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0F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35040" y="213055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DESIGN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68112" y="2734056"/>
            <a:ext cx="17830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실험 3개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SAFE BET + GROWTH EXP.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34072" y="3200400"/>
            <a:ext cx="146304" cy="0"/>
          </a:xfrm>
          <a:prstGeom prst="line">
            <a:avLst/>
          </a:prstGeom>
          <a:noFill/>
          <a:ln w="16510">
            <a:solidFill>
              <a:srgbClr val="28344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598664" y="1965960"/>
            <a:ext cx="2148840" cy="2468880"/>
          </a:xfrm>
          <a:prstGeom prst="roundRect">
            <a:avLst>
              <a:gd name="adj" fmla="val 5106"/>
            </a:avLst>
          </a:prstGeom>
          <a:solidFill>
            <a:srgbClr val="10241B"/>
          </a:solidFill>
          <a:ln w="12700">
            <a:solidFill>
              <a:srgbClr val="6DFF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63256" y="2130552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6DFFA8"/>
          </a:solidFill>
          <a:ln w="10160">
            <a:solidFill>
              <a:srgbClr val="6DF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213969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0F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348472" y="213055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DF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PRODUCE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81544" y="2734056"/>
            <a:ext cx="17830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5-part Production Package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촬영만 사용자 몫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747504" y="3200400"/>
            <a:ext cx="146304" cy="0"/>
          </a:xfrm>
          <a:prstGeom prst="line">
            <a:avLst/>
          </a:prstGeom>
          <a:noFill/>
          <a:ln w="16510">
            <a:solidFill>
              <a:srgbClr val="28344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912096" y="1965960"/>
            <a:ext cx="2148840" cy="2468880"/>
          </a:xfrm>
          <a:prstGeom prst="roundRect">
            <a:avLst>
              <a:gd name="adj" fmla="val 5106"/>
            </a:avLst>
          </a:prstGeom>
          <a:solidFill>
            <a:srgbClr val="151D38"/>
          </a:solidFill>
          <a:ln w="12700">
            <a:solidFill>
              <a:srgbClr val="8EA4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76688" y="2130552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8EA4FF"/>
          </a:solidFill>
          <a:ln w="10160">
            <a:solidFill>
              <a:srgbClr val="8EA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31552" y="213969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0F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661904" y="213055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EA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LEARN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94976" y="2734056"/>
            <a:ext cx="17830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게시 후 성과 기록 → 다음 추천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(FUTURE LOOP)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4864608"/>
            <a:ext cx="10917936" cy="841248"/>
          </a:xfrm>
          <a:prstGeom prst="roundRect">
            <a:avLst>
              <a:gd name="adj" fmla="val 13043"/>
            </a:avLst>
          </a:prstGeom>
          <a:solidFill>
            <a:srgbClr val="0F151C"/>
          </a:solidFill>
          <a:ln w="12700">
            <a:solidFill>
              <a:srgbClr val="2531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1248" y="512064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18212B"/>
          </a:solidFill>
          <a:ln w="10160">
            <a:solidFill>
              <a:srgbClr val="2E3A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5129784"/>
            <a:ext cx="1033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MVP BOUNDARY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176272" y="5010912"/>
            <a:ext cx="8979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MVP: 관측 → 팔로워 audit → 실험 설계 → 제작 준비물. 실제 촬영·자동 게시·성과 자동 수집은 별도 단계.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670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DF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TRUST LAYER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누락 4개 ≠ 언팔 4명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1828800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7A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76656" y="295351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old export에서 사라진 handle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12848" y="2615184"/>
            <a:ext cx="758952" cy="0"/>
          </a:xfrm>
          <a:prstGeom prst="line">
            <a:avLst/>
          </a:prstGeom>
          <a:noFill/>
          <a:ln w="25400">
            <a:solidFill>
              <a:srgbClr val="95A2B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46120" y="1856232"/>
            <a:ext cx="1874520" cy="1965960"/>
          </a:xfrm>
          <a:prstGeom prst="roundRect">
            <a:avLst>
              <a:gd name="adj" fmla="val 5854"/>
            </a:avLst>
          </a:prstGeom>
          <a:solidFill>
            <a:srgbClr val="2A171C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2066544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7A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867912" y="204825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관계 부재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19856" y="2670048"/>
            <a:ext cx="1499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relationship_absent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94376" y="1856232"/>
            <a:ext cx="1874520" cy="1965960"/>
          </a:xfrm>
          <a:prstGeom prst="roundRect">
            <a:avLst>
              <a:gd name="adj" fmla="val 5854"/>
            </a:avLst>
          </a:prstGeom>
          <a:solidFill>
            <a:srgbClr val="10241B"/>
          </a:solidFill>
          <a:ln w="12700">
            <a:solidFill>
              <a:srgbClr val="6DF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77256" y="2066544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F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916168" y="204825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계정명 변경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68112" y="2670048"/>
            <a:ext cx="1499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renamed_still_following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42632" y="1856232"/>
            <a:ext cx="1874520" cy="1965960"/>
          </a:xfrm>
          <a:prstGeom prst="roundRect">
            <a:avLst>
              <a:gd name="adj" fmla="val 5854"/>
            </a:avLst>
          </a:prstGeom>
          <a:solidFill>
            <a:srgbClr val="2B2312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066544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1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964424" y="204825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기간 제외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16368" y="2670048"/>
            <a:ext cx="1499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outside_window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390888" y="1856232"/>
            <a:ext cx="1874520" cy="1965960"/>
          </a:xfrm>
          <a:prstGeom prst="roundRect">
            <a:avLst>
              <a:gd name="adj" fmla="val 5854"/>
            </a:avLst>
          </a:prstGeom>
          <a:solidFill>
            <a:srgbClr val="10242C"/>
          </a:solidFill>
          <a:ln w="12700">
            <a:solidFill>
              <a:srgbClr val="62D7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73768" y="2066544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2D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0012680" y="204825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미확인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64624" y="2670048"/>
            <a:ext cx="1499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unresolved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46120" y="4169664"/>
            <a:ext cx="1977390" cy="219456"/>
          </a:xfrm>
          <a:prstGeom prst="rec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50942" y="4169664"/>
            <a:ext cx="1977390" cy="219456"/>
          </a:xfrm>
          <a:prstGeom prst="rect">
            <a:avLst/>
          </a:prstGeom>
          <a:solidFill>
            <a:srgbClr val="6DFFA8"/>
          </a:solidFill>
          <a:ln w="12700">
            <a:solidFill>
              <a:srgbClr val="6DFF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55764" y="4169664"/>
            <a:ext cx="1977390" cy="2194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60586" y="4169664"/>
            <a:ext cx="1977390" cy="219456"/>
          </a:xfrm>
          <a:prstGeom prst="rect">
            <a:avLst/>
          </a:prstGeom>
          <a:solidFill>
            <a:srgbClr val="62D7FF"/>
          </a:solidFill>
          <a:ln w="12700">
            <a:solidFill>
              <a:srgbClr val="62D7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4617720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unknown을 억지로 결론 내리지 않는 follower audit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4224528" y="528523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4161B"/>
          </a:solidFill>
          <a:ln w="10160">
            <a:solidFill>
              <a:srgbClr val="FF7A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79392" y="5294376"/>
            <a:ext cx="1307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7A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 CAUSALITY CLAIM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806440" y="520293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“이 게시물 때문에 이 사람이 언팔했다”는 인과 추정 금지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670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DF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EXPERIMENT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추천이 아니라, 검증 가능한 실험 3개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10241B"/>
          </a:solidFill>
          <a:ln w="12700">
            <a:solidFill>
              <a:srgbClr val="6DFF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65376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173626"/>
          </a:solidFill>
          <a:ln w="10160">
            <a:solidFill>
              <a:srgbClr val="6DF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7452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DF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SAFE BET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" y="22677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근거가 있는 현재 강점을 활용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75888" y="1664208"/>
            <a:ext cx="3767328" cy="1143000"/>
          </a:xfrm>
          <a:prstGeom prst="roundRect">
            <a:avLst>
              <a:gd name="adj" fmla="val 9600"/>
            </a:avLst>
          </a:prstGeom>
          <a:solidFill>
            <a:srgbClr val="20182C"/>
          </a:solidFill>
          <a:ln w="12700">
            <a:solidFill>
              <a:srgbClr val="B78C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67912" y="1865376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2C1F3C"/>
          </a:solidFill>
          <a:ln w="10160">
            <a:solidFill>
              <a:srgbClr val="B78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22776" y="187452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GROWTH EXPERIMENT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67912" y="2267712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약점 하나를 명시하고 개선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44384" y="1664208"/>
            <a:ext cx="3913632" cy="1143000"/>
          </a:xfrm>
          <a:prstGeom prst="roundRect">
            <a:avLst>
              <a:gd name="adj" fmla="val 9600"/>
            </a:avLst>
          </a:prstGeom>
          <a:solidFill>
            <a:srgbClr val="131A23"/>
          </a:solidFill>
          <a:ln w="12700">
            <a:solidFill>
              <a:srgbClr val="3A46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45552" y="1865376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B2531"/>
          </a:solidFill>
          <a:ln w="10160">
            <a:solidFill>
              <a:srgbClr val="3946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0416" y="1874520"/>
            <a:ext cx="850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GUARDRAILS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45552" y="226771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 연결 · 시간 예산 · 과장 금지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" y="3255264"/>
            <a:ext cx="3401568" cy="1828800"/>
          </a:xfrm>
          <a:prstGeom prst="roundRect">
            <a:avLst>
              <a:gd name="adj" fmla="val 6000"/>
            </a:avLst>
          </a:prstGeom>
          <a:solidFill>
            <a:srgbClr val="121923"/>
          </a:solidFill>
          <a:ln w="12700">
            <a:solidFill>
              <a:srgbClr val="6DFF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0976" y="3465576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10241B"/>
          </a:solidFill>
          <a:ln w="10160">
            <a:solidFill>
              <a:srgbClr val="6DF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474720"/>
            <a:ext cx="740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DF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SAFE BET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50976" y="3950208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루틴 3단계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0976" y="4617720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 연결 · 20 min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07992" y="3255264"/>
            <a:ext cx="3401568" cy="1828800"/>
          </a:xfrm>
          <a:prstGeom prst="roundRect">
            <a:avLst>
              <a:gd name="adj" fmla="val 6000"/>
            </a:avLst>
          </a:prstGeom>
          <a:solidFill>
            <a:srgbClr val="121923"/>
          </a:solidFill>
          <a:ln w="12700">
            <a:solidFill>
              <a:srgbClr val="B78C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3465576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0182C"/>
          </a:solidFill>
          <a:ln w="10160">
            <a:solidFill>
              <a:srgbClr val="B78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64024" y="3474720"/>
            <a:ext cx="1124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GROWTH EXP.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09160" y="3950208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첫 3초 Hook 개선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09160" y="4617720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weakness: opening_hook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66176" y="3255264"/>
            <a:ext cx="3401568" cy="1828800"/>
          </a:xfrm>
          <a:prstGeom prst="roundRect">
            <a:avLst>
              <a:gd name="adj" fmla="val 6000"/>
            </a:avLst>
          </a:prstGeom>
          <a:solidFill>
            <a:srgbClr val="121923"/>
          </a:solidFill>
          <a:ln w="12700">
            <a:solidFill>
              <a:srgbClr val="6DFF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67344" y="3465576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10241B"/>
          </a:solidFill>
          <a:ln w="10160">
            <a:solidFill>
              <a:srgbClr val="6DFF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22208" y="3474720"/>
            <a:ext cx="740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DF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SAFE BET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467344" y="3950208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공부 체크리스트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467344" y="4617720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 연결 · time-boxed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944" y="5650992"/>
            <a:ext cx="10808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exactly 3 actions   ·   source-grounded   ·   total production time ≤ weekly budget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670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DF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[DEMO] PRODUCTION PACKAGE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아이디어를 누르면, 촬영 계획이 열린다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100816" cy="4553712"/>
          </a:xfrm>
          <a:prstGeom prst="roundRect">
            <a:avLst>
              <a:gd name="adj" fmla="val 2410"/>
            </a:avLst>
          </a:prstGeom>
          <a:solidFill>
            <a:srgbClr val="0E141C"/>
          </a:solidFill>
          <a:ln w="12700">
            <a:solidFill>
              <a:srgbClr val="33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1100816" cy="411480"/>
          </a:xfrm>
          <a:prstGeom prst="rect">
            <a:avLst/>
          </a:prstGeom>
          <a:solidFill>
            <a:srgbClr val="151D27"/>
          </a:solidFill>
          <a:ln w="12700">
            <a:solidFill>
              <a:srgbClr val="151D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664208"/>
            <a:ext cx="91440" cy="9144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664208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1664208"/>
            <a:ext cx="91440" cy="91440"/>
          </a:xfrm>
          <a:prstGeom prst="ellipse">
            <a:avLst/>
          </a:prstGeom>
          <a:solidFill>
            <a:srgbClr val="6DFFA8"/>
          </a:solidFill>
          <a:ln w="12700">
            <a:solidFill>
              <a:srgbClr val="6DF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5727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TrendPilot / Run result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32104" y="2103120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10241B"/>
          </a:solidFill>
          <a:ln w="10160">
            <a:solidFill>
              <a:srgbClr val="6DF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112264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DF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SAFE BET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32104" y="2523744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루틴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3단계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32104" y="345643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첫 촬영까지 필요한 5개 묶음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160520"/>
            <a:ext cx="2103120" cy="1170432"/>
          </a:xfrm>
          <a:prstGeom prst="roundRect">
            <a:avLst>
              <a:gd name="adj" fmla="val 9375"/>
            </a:avLst>
          </a:prstGeom>
          <a:solidFill>
            <a:srgbClr val="111923"/>
          </a:solidFill>
          <a:ln w="12700">
            <a:solidFill>
              <a:srgbClr val="2836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431596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F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촬영만 사용자의 몫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6696" y="469087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가이드 ≠ 완성 영상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82112" y="2084832"/>
            <a:ext cx="3840480" cy="1243584"/>
          </a:xfrm>
          <a:prstGeom prst="roundRect">
            <a:avLst>
              <a:gd name="adj" fmla="val 8824"/>
            </a:avLst>
          </a:prstGeom>
          <a:solidFill>
            <a:srgbClr val="141D27"/>
          </a:solidFill>
          <a:ln w="12700">
            <a:solidFill>
              <a:srgbClr val="31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46704" y="2249424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10242C"/>
          </a:solidFill>
          <a:ln w="10160">
            <a:solidFill>
              <a:srgbClr val="62D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2258568"/>
            <a:ext cx="603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2D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SCRIPT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06240" y="2221992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Hook  공부 시작 전, 이 순서부터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46704" y="269748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Body  정리 → 한 줄 계획 → 10분 타이머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23760" y="2084832"/>
            <a:ext cx="4160520" cy="1243584"/>
          </a:xfrm>
          <a:prstGeom prst="roundRect">
            <a:avLst>
              <a:gd name="adj" fmla="val 8824"/>
            </a:avLst>
          </a:prstGeom>
          <a:solidFill>
            <a:srgbClr val="141D27"/>
          </a:solidFill>
          <a:ln w="12700">
            <a:solidFill>
              <a:srgbClr val="31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88352" y="2249424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41F12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43216" y="225856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SHOT LIST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03336" y="22311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정리 전 책상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88352" y="271576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정리→계획→타이머   ③ 실제 공부 장면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82112" y="3529584"/>
            <a:ext cx="2395728" cy="1335024"/>
          </a:xfrm>
          <a:prstGeom prst="roundRect">
            <a:avLst>
              <a:gd name="adj" fmla="val 8219"/>
            </a:avLst>
          </a:prstGeom>
          <a:solidFill>
            <a:srgbClr val="141D27"/>
          </a:solidFill>
          <a:ln w="12700">
            <a:solidFill>
              <a:srgbClr val="31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46704" y="3703320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1A2630"/>
          </a:solidFill>
          <a:ln w="10160">
            <a:solidFill>
              <a:srgbClr val="62D7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01568" y="3712464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2D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46704" y="41422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첫 4초에 결과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46704" y="44897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2–4초 컷 · 핵심 자막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79008" y="3529584"/>
            <a:ext cx="2359152" cy="1335024"/>
          </a:xfrm>
          <a:prstGeom prst="roundRect">
            <a:avLst>
              <a:gd name="adj" fmla="val 8219"/>
            </a:avLst>
          </a:prstGeom>
          <a:solidFill>
            <a:srgbClr val="141D27"/>
          </a:solidFill>
          <a:ln w="12700">
            <a:solidFill>
              <a:srgbClr val="31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370332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261D34"/>
          </a:solidFill>
          <a:ln w="10160">
            <a:solidFill>
              <a:srgbClr val="B78C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98464" y="3712464"/>
            <a:ext cx="850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THUMBNAIL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943600" y="41422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공부 시작 전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0" y="44897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3단계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366760" y="3529584"/>
            <a:ext cx="3017520" cy="1335024"/>
          </a:xfrm>
          <a:prstGeom prst="roundRect">
            <a:avLst>
              <a:gd name="adj" fmla="val 8219"/>
            </a:avLst>
          </a:prstGeom>
          <a:solidFill>
            <a:srgbClr val="141D27"/>
          </a:solidFill>
          <a:ln w="12700">
            <a:solidFill>
              <a:srgbClr val="31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31352" y="370332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8281D"/>
          </a:solidFill>
          <a:ln w="10160">
            <a:solidFill>
              <a:srgbClr val="6DFF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86216" y="3712464"/>
            <a:ext cx="850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DF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PUBLISHING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531352" y="41239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제목 · 설명 · 해시태그 · CTA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31352" y="4507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target metric: 조회수 / 전환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36976" y="5248656"/>
            <a:ext cx="8010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DF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“뭘 만들지?”에서 “이제 찍으면 된다”로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670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DF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SPONSOR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스폰서는 로고가 아니라, 실행 단계다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993392"/>
            <a:ext cx="1764792" cy="1965960"/>
          </a:xfrm>
          <a:prstGeom prst="roundRect">
            <a:avLst>
              <a:gd name="adj" fmla="val 6218"/>
            </a:avLst>
          </a:prstGeom>
          <a:solidFill>
            <a:srgbClr val="2A171C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22860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YouTube API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2834640"/>
            <a:ext cx="1472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최근 공개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evidence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40280" y="2980944"/>
            <a:ext cx="146304" cy="0"/>
          </a:xfrm>
          <a:prstGeom prst="line">
            <a:avLst/>
          </a:prstGeom>
          <a:noFill/>
          <a:ln w="15240">
            <a:solidFill>
              <a:srgbClr val="28344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04872" y="1993392"/>
            <a:ext cx="1764792" cy="1965960"/>
          </a:xfrm>
          <a:prstGeom prst="roundRect">
            <a:avLst>
              <a:gd name="adj" fmla="val 6218"/>
            </a:avLst>
          </a:prstGeom>
          <a:solidFill>
            <a:srgbClr val="10242C"/>
          </a:solidFill>
          <a:ln w="12700">
            <a:solidFill>
              <a:srgbClr val="62D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32888" y="22860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2D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FastAPI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51176" y="2834640"/>
            <a:ext cx="1472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오케스트레이션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9664" y="2980944"/>
            <a:ext cx="146304" cy="0"/>
          </a:xfrm>
          <a:prstGeom prst="line">
            <a:avLst/>
          </a:prstGeom>
          <a:noFill/>
          <a:ln w="15240">
            <a:solidFill>
              <a:srgbClr val="28344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34256" y="1993392"/>
            <a:ext cx="1764792" cy="1965960"/>
          </a:xfrm>
          <a:prstGeom prst="roundRect">
            <a:avLst>
              <a:gd name="adj" fmla="val 6218"/>
            </a:avLst>
          </a:prstGeom>
          <a:solidFill>
            <a:srgbClr val="20182C"/>
          </a:solidFill>
          <a:ln w="12700">
            <a:solidFill>
              <a:srgbClr val="B7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22860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Nosana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2834640"/>
            <a:ext cx="1472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비식별 전략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3개 액션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99048" y="2980944"/>
            <a:ext cx="146304" cy="0"/>
          </a:xfrm>
          <a:prstGeom prst="line">
            <a:avLst/>
          </a:prstGeom>
          <a:noFill/>
          <a:ln w="15240">
            <a:solidFill>
              <a:srgbClr val="28344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63640" y="1993392"/>
            <a:ext cx="1764792" cy="1965960"/>
          </a:xfrm>
          <a:prstGeom prst="roundRect">
            <a:avLst>
              <a:gd name="adj" fmla="val 6218"/>
            </a:avLst>
          </a:prstGeom>
          <a:solidFill>
            <a:srgbClr val="10241B"/>
          </a:solidFill>
          <a:ln w="12700">
            <a:solidFill>
              <a:srgbClr val="6DF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1656" y="22860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F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Daytona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9944" y="2834640"/>
            <a:ext cx="1472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결정론 계산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artifact 생성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28432" y="2980944"/>
            <a:ext cx="146304" cy="0"/>
          </a:xfrm>
          <a:prstGeom prst="line">
            <a:avLst/>
          </a:prstGeom>
          <a:noFill/>
          <a:ln w="15240">
            <a:solidFill>
              <a:srgbClr val="28344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93024" y="1993392"/>
            <a:ext cx="1764792" cy="1965960"/>
          </a:xfrm>
          <a:prstGeom prst="roundRect">
            <a:avLst>
              <a:gd name="adj" fmla="val 6218"/>
            </a:avLst>
          </a:prstGeom>
          <a:solidFill>
            <a:srgbClr val="171E38"/>
          </a:solidFill>
          <a:ln w="12700">
            <a:solidFill>
              <a:srgbClr val="8EA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860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A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Validator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39328" y="2834640"/>
            <a:ext cx="1472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schema · source 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hash 확인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57816" y="2980944"/>
            <a:ext cx="146304" cy="0"/>
          </a:xfrm>
          <a:prstGeom prst="line">
            <a:avLst/>
          </a:prstGeom>
          <a:noFill/>
          <a:ln w="15240">
            <a:solidFill>
              <a:srgbClr val="28344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122408" y="1993392"/>
            <a:ext cx="1764792" cy="1965960"/>
          </a:xfrm>
          <a:prstGeom prst="roundRect">
            <a:avLst>
              <a:gd name="adj" fmla="val 6218"/>
            </a:avLst>
          </a:prstGeom>
          <a:solidFill>
            <a:srgbClr val="2B2312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50424" y="22860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DNSimple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268712" y="2834640"/>
            <a:ext cx="1472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sandbox record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create + readback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416552"/>
            <a:ext cx="5376672" cy="1097280"/>
          </a:xfrm>
          <a:prstGeom prst="roundRect">
            <a:avLst>
              <a:gd name="adj" fmla="val 10000"/>
            </a:avLst>
          </a:prstGeom>
          <a:solidFill>
            <a:srgbClr val="0F151C"/>
          </a:solidFill>
          <a:ln w="12700">
            <a:solidFill>
              <a:srgbClr val="2532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" y="4645152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9222C"/>
          </a:solidFill>
          <a:ln w="10160">
            <a:solidFill>
              <a:srgbClr val="3441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4654296"/>
            <a:ext cx="1170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PRIVACY BOUNDARY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340864" y="45720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Nosana에 username · account ID · raw ZIP을 보내지 않음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340864" y="4965192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 근거 ID + 비식별 집계만 전달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4416552"/>
            <a:ext cx="5340096" cy="1097280"/>
          </a:xfrm>
          <a:prstGeom prst="roundRect">
            <a:avLst>
              <a:gd name="adj" fmla="val 10000"/>
            </a:avLst>
          </a:prstGeom>
          <a:solidFill>
            <a:srgbClr val="0F151C"/>
          </a:solidFill>
          <a:ln w="12700">
            <a:solidFill>
              <a:srgbClr val="2532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19088" y="4645152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19222C"/>
          </a:solidFill>
          <a:ln w="10160">
            <a:solidFill>
              <a:srgbClr val="34414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73952" y="4654296"/>
            <a:ext cx="1060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TRUTHFUL STATUS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836408" y="4572000"/>
            <a:ext cx="3319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DNSimple sandbox 성공 ≠ public URL 성공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836408" y="4965192"/>
            <a:ext cx="3319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sandbox에서는 public_url = null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670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DF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DEMO ACCEPTANCE GATE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성공 기준은 '생성했다'가 아니라 '검증됐다'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3401568" cy="3108960"/>
          </a:xfrm>
          <a:prstGeom prst="roundRect">
            <a:avLst>
              <a:gd name="adj" fmla="val 3529"/>
            </a:avLst>
          </a:prstGeom>
          <a:solidFill>
            <a:srgbClr val="121923"/>
          </a:solidFill>
          <a:ln w="12700">
            <a:solidFill>
              <a:srgbClr val="62D7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99339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10242C"/>
          </a:solidFill>
          <a:ln w="10160">
            <a:solidFill>
              <a:srgbClr val="62D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02536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2D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PROVIDER TRACE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96112" y="2734056"/>
            <a:ext cx="91440" cy="91440"/>
          </a:xfrm>
          <a:prstGeom prst="ellipse">
            <a:avLst/>
          </a:prstGeom>
          <a:solidFill>
            <a:srgbClr val="62D7FF"/>
          </a:solidFill>
          <a:ln w="12700">
            <a:solidFill>
              <a:srgbClr val="62D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3856" y="2587752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provider / operation / status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96112" y="3355848"/>
            <a:ext cx="91440" cy="91440"/>
          </a:xfrm>
          <a:prstGeom prst="ellipse">
            <a:avLst/>
          </a:prstGeom>
          <a:solidFill>
            <a:srgbClr val="62D7FF"/>
          </a:solidFill>
          <a:ln w="12700">
            <a:solidFill>
              <a:srgbClr val="62D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3209544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remote_id / executed_at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" y="3977640"/>
            <a:ext cx="91440" cy="91440"/>
          </a:xfrm>
          <a:prstGeom prst="ellipse">
            <a:avLst/>
          </a:prstGeom>
          <a:solidFill>
            <a:srgbClr val="62D7FF"/>
          </a:solidFill>
          <a:ln w="12700">
            <a:solidFill>
              <a:srgbClr val="62D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33856" y="3831336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live · cached · failed 구분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1783080"/>
            <a:ext cx="3401568" cy="3108960"/>
          </a:xfrm>
          <a:prstGeom prst="roundRect">
            <a:avLst>
              <a:gd name="adj" fmla="val 3529"/>
            </a:avLst>
          </a:prstGeom>
          <a:solidFill>
            <a:srgbClr val="121923"/>
          </a:solidFill>
          <a:ln w="12700">
            <a:solidFill>
              <a:srgbClr val="6DFF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90288" y="199339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10241B"/>
          </a:solidFill>
          <a:ln w="10160">
            <a:solidFill>
              <a:srgbClr val="6DF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2002536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DF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ARTIFACT PROOF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26864" y="2734056"/>
            <a:ext cx="91440" cy="91440"/>
          </a:xfrm>
          <a:prstGeom prst="ellipse">
            <a:avLst/>
          </a:prstGeom>
          <a:solidFill>
            <a:srgbClr val="6DFFA8"/>
          </a:solidFill>
          <a:ln w="12700">
            <a:solidFill>
              <a:srgbClr val="6DF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2587752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report.md · script.md · shot-list.json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26864" y="3355848"/>
            <a:ext cx="91440" cy="91440"/>
          </a:xfrm>
          <a:prstGeom prst="ellipse">
            <a:avLst/>
          </a:prstGeom>
          <a:solidFill>
            <a:srgbClr val="6DFFA8"/>
          </a:solidFill>
          <a:ln w="12700">
            <a:solidFill>
              <a:srgbClr val="6DFF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3209544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생성 파일만 allowlist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26864" y="3977640"/>
            <a:ext cx="91440" cy="91440"/>
          </a:xfrm>
          <a:prstGeom prst="ellipse">
            <a:avLst/>
          </a:prstGeom>
          <a:solidFill>
            <a:srgbClr val="6DFFA8"/>
          </a:solidFill>
          <a:ln w="12700">
            <a:solidFill>
              <a:srgbClr val="6DF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3831336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download 후 SHA-256 일치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19872" y="1783080"/>
            <a:ext cx="3401568" cy="3108960"/>
          </a:xfrm>
          <a:prstGeom prst="roundRect">
            <a:avLst>
              <a:gd name="adj" fmla="val 3529"/>
            </a:avLst>
          </a:prstGeom>
          <a:solidFill>
            <a:srgbClr val="121923"/>
          </a:solidFill>
          <a:ln w="12700">
            <a:solidFill>
              <a:srgbClr val="B78C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1040" y="199339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0182C"/>
          </a:solidFill>
          <a:ln w="10160">
            <a:solidFill>
              <a:srgbClr val="B78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75904" y="2002536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TRUTHFUL STATE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357616" y="2734056"/>
            <a:ext cx="91440" cy="91440"/>
          </a:xfrm>
          <a:prstGeom prst="ellipse">
            <a:avLst/>
          </a:prstGeom>
          <a:solidFill>
            <a:srgbClr val="B78CFF"/>
          </a:solidFill>
          <a:ln w="12700">
            <a:solidFill>
              <a:srgbClr val="B78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0" y="2587752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SYNTHETIC / LIVE / SANDBOX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57616" y="3355848"/>
            <a:ext cx="91440" cy="91440"/>
          </a:xfrm>
          <a:prstGeom prst="ellipse">
            <a:avLst/>
          </a:prstGeom>
          <a:solidFill>
            <a:srgbClr val="B78CFF"/>
          </a:solidFill>
          <a:ln w="12700">
            <a:solidFill>
              <a:srgbClr val="B78C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0" y="3209544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PARTIAL / FAILED를 숨기지 않음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57616" y="3977640"/>
            <a:ext cx="91440" cy="91440"/>
          </a:xfrm>
          <a:prstGeom prst="ellipse">
            <a:avLst/>
          </a:prstGeom>
          <a:solidFill>
            <a:srgbClr val="B78CFF"/>
          </a:solidFill>
          <a:ln w="12700">
            <a:solidFill>
              <a:srgbClr val="B78C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0" y="3831336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sandbox ≠ public deployment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188720" y="5257800"/>
            <a:ext cx="9802368" cy="658368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 w="12700">
            <a:solidFill>
              <a:srgbClr val="2A37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17320" y="5376672"/>
            <a:ext cx="9345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F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데모 성공 조건 = 실제 요청 영수증 + 실제 생성 파일 + 해시 일치 + 상태 라벨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15568" y="609904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저장소는 설계/계약/준비 자료입니다. 미검증 live receipt나 public deployment는 “완료”로 표현하지 않습니다.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670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731520"/>
            <a:ext cx="4389120" cy="4389120"/>
          </a:xfrm>
          <a:prstGeom prst="ellipse">
            <a:avLst/>
          </a:prstGeom>
          <a:solidFill>
            <a:srgbClr val="6DFFA8">
              <a:alpha val="7000"/>
            </a:srgbClr>
          </a:solidFill>
          <a:ln w="12700">
            <a:solidFill>
              <a:srgbClr val="6DFFA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8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DF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CLOSING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TrendPilot이 만드는 건 '답변'이 아니라 다음 촬영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1874520"/>
            <a:ext cx="3383280" cy="1700784"/>
          </a:xfrm>
          <a:prstGeom prst="roundRect">
            <a:avLst>
              <a:gd name="adj" fmla="val 6452"/>
            </a:avLst>
          </a:prstGeom>
          <a:solidFill>
            <a:srgbClr val="20182C"/>
          </a:solidFill>
          <a:ln w="12700">
            <a:solidFill>
              <a:srgbClr val="B7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75688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737360" y="208483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실험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257860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SAFE BET + GROWTH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43984" y="1874520"/>
            <a:ext cx="3383280" cy="1700784"/>
          </a:xfrm>
          <a:prstGeom prst="roundRect">
            <a:avLst>
              <a:gd name="adj" fmla="val 6452"/>
            </a:avLst>
          </a:prstGeom>
          <a:solidFill>
            <a:srgbClr val="10241B"/>
          </a:solidFill>
          <a:ln w="12700">
            <a:solidFill>
              <a:srgbClr val="6DF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2075688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DF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468112" y="208483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Production Package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68112" y="257860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Script · Shots · Edit · Thumb · Publish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174736" y="1874520"/>
            <a:ext cx="3383280" cy="1700784"/>
          </a:xfrm>
          <a:prstGeom prst="roundRect">
            <a:avLst>
              <a:gd name="adj" fmla="val 6452"/>
            </a:avLst>
          </a:prstGeom>
          <a:solidFill>
            <a:srgbClr val="10242C"/>
          </a:solidFill>
          <a:ln w="12700">
            <a:solidFill>
              <a:srgbClr val="62D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2075688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2D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98864" y="208483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신뢰 계층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98864" y="257860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5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 · unknown · audit · provenance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42416" y="4041648"/>
            <a:ext cx="10113264" cy="960120"/>
          </a:xfrm>
          <a:prstGeom prst="roundRect">
            <a:avLst>
              <a:gd name="adj" fmla="val 11429"/>
            </a:avLst>
          </a:prstGeom>
          <a:solidFill>
            <a:srgbClr val="10171F"/>
          </a:solidFill>
          <a:ln w="12700">
            <a:solidFill>
              <a:srgbClr val="2C39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89888" y="436168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16202A"/>
          </a:solidFill>
          <a:ln w="10160">
            <a:solidFill>
              <a:srgbClr val="62D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44752" y="4370832"/>
            <a:ext cx="1124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2D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 관측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697480" y="4489704"/>
            <a:ext cx="393192" cy="0"/>
          </a:xfrm>
          <a:prstGeom prst="line">
            <a:avLst/>
          </a:prstGeom>
          <a:noFill/>
          <a:ln w="15240">
            <a:solidFill>
              <a:srgbClr val="28344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236976" y="436168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16202A"/>
          </a:solidFill>
          <a:ln w="10160">
            <a:solidFill>
              <a:srgbClr val="B78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4370832"/>
            <a:ext cx="1124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78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실험 설계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44568" y="4489704"/>
            <a:ext cx="393192" cy="0"/>
          </a:xfrm>
          <a:prstGeom prst="line">
            <a:avLst/>
          </a:prstGeom>
          <a:noFill/>
          <a:ln w="15240">
            <a:solidFill>
              <a:srgbClr val="28344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084064" y="436168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16202A"/>
          </a:solidFill>
          <a:ln w="10160">
            <a:solidFill>
              <a:srgbClr val="6DFF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4370832"/>
            <a:ext cx="1124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DF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촬영 준비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391656" y="4489704"/>
            <a:ext cx="393192" cy="0"/>
          </a:xfrm>
          <a:prstGeom prst="line">
            <a:avLst/>
          </a:prstGeom>
          <a:noFill/>
          <a:ln w="15240">
            <a:solidFill>
              <a:srgbClr val="28344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931152" y="436168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16202A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86016" y="4370832"/>
            <a:ext cx="1124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성과 기록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238744" y="4489704"/>
            <a:ext cx="393192" cy="0"/>
          </a:xfrm>
          <a:prstGeom prst="line">
            <a:avLst/>
          </a:prstGeom>
          <a:noFill/>
          <a:ln w="15240">
            <a:solidFill>
              <a:srgbClr val="28344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778240" y="436168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16202A"/>
          </a:solidFill>
          <a:ln w="10160">
            <a:solidFill>
              <a:srgbClr val="8EA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33104" y="4370832"/>
            <a:ext cx="1124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EA4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추천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22960" y="5440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4F7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트렌드를 설명하는 AI가 아니라, 다음 촬영을 준비하는 에이전트.</a:t>
            </a:r>
            <a:endParaRPr lang="en-US" sz="2300" dirty="0"/>
          </a:p>
        </p:txBody>
      </p:sp>
      <p:sp>
        <p:nvSpPr>
          <p:cNvPr id="33" name="Shape 31"/>
          <p:cNvSpPr/>
          <p:nvPr/>
        </p:nvSpPr>
        <p:spPr>
          <a:xfrm>
            <a:off x="5047488" y="6089904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173626"/>
          </a:solidFill>
          <a:ln w="10160">
            <a:solidFill>
              <a:srgbClr val="6DFF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02352" y="6099048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FF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TrendPilot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86384" y="6446520"/>
            <a:ext cx="10625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8758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Source: aiaiiai/README · docs/PROVIDERS_AND_TESTS.md · contracts/HTTP.md · fixtures/report-sample.md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670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TrendPilot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TrendPilot - Personal SNS Growth Production Agent</dc:title>
  <dc:subject>TrendPilot 3-minute hackathon pitch</dc:subject>
  <dc:creator>OpenAI</dc:creator>
  <cp:lastModifiedBy>OpenAI</cp:lastModifiedBy>
  <cp:revision>1</cp:revision>
  <dcterms:created xsi:type="dcterms:W3CDTF">2026-09-19T06:49:56Z</dcterms:created>
  <dcterms:modified xsi:type="dcterms:W3CDTF">2026-09-19T06:49:56Z</dcterms:modified>
</cp:coreProperties>
</file>